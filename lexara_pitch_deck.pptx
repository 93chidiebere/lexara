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929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1315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34272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5798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5100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7664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59474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55540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35667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56621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49312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86795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6400" b="1">
                <a:solidFill>
                  <a:srgbClr val="D65631"/>
                </a:solidFill>
                <a:latin typeface="Georgia"/>
              </a:defRPr>
            </a:pPr>
            <a:r>
              <a:t>LEXARA</a:t>
            </a:r>
          </a:p>
          <a:p>
            <a:pPr algn="l">
              <a:spcAft>
                <a:spcPts val="2400"/>
              </a:spcAft>
              <a:defRPr sz="2800" b="1">
                <a:solidFill>
                  <a:srgbClr val="2B3033"/>
                </a:solidFill>
                <a:latin typeface="Georgia"/>
              </a:defRPr>
            </a:pPr>
            <a:r>
              <a:t>Bridging African Dialects Through Gamified Data Innovation</a:t>
            </a:r>
          </a:p>
          <a:p>
            <a:pPr algn="l">
              <a:defRPr sz="1600">
                <a:solidFill>
                  <a:srgbClr val="737D84"/>
                </a:solidFill>
                <a:latin typeface="Arial"/>
              </a:defRPr>
            </a:pPr>
            <a:r>
              <a:t>Accelerator Program Application Pitch Deck  | 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0"/>
            <a:ext cx="2743200" cy="9144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Modern NLP Excludes 88% of Africa's 2,000+ Languages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Global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Neglect: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Out of 7,000 languages spoken worldwide, only about 20 receive substantial attention in NLP research, shutting out billions of people.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Africa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Excluded: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Africa has over 2,000 languages, yet a staggering 88% are either severely underrepresented or completely ignored in computational linguistics.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Extinction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Risk: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Approximately 814 African languages are currently in danger of extinction. Nigeria alone has 171 languages facing severe threats.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Millions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Affected: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These are not marginal dialects; major languages like Igbo, Yoruba, and Hausa are spoken by tens of millions of people each, yet lack digital data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51206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400" b="1">
                <a:solidFill>
                  <a:srgbClr val="D65631"/>
                </a:solidFill>
                <a:latin typeface="Georgia"/>
              </a:defRPr>
            </a:pPr>
            <a:r>
              <a:t>88%</a:t>
            </a:r>
          </a:p>
          <a:p>
            <a:pPr algn="ctr">
              <a:defRPr sz="1400">
                <a:solidFill>
                  <a:srgbClr val="2B3033"/>
                </a:solidFill>
                <a:latin typeface="Arial"/>
              </a:defRPr>
            </a:pPr>
            <a:r>
              <a:t>of African languages are excluded from modern AI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3931920"/>
            <a:ext cx="51206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400" b="1">
                <a:solidFill>
                  <a:srgbClr val="2E7559"/>
                </a:solidFill>
                <a:latin typeface="Georgia"/>
              </a:defRPr>
            </a:pPr>
            <a:r>
              <a:t>171</a:t>
            </a:r>
          </a:p>
          <a:p>
            <a:pPr algn="ctr">
              <a:defRPr sz="1400">
                <a:solidFill>
                  <a:srgbClr val="2B3033"/>
                </a:solidFill>
                <a:latin typeface="Arial"/>
              </a:defRPr>
            </a:pPr>
            <a:r>
              <a:t>endangered languages in Nigeria facing extinction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Over 20 Igbo Dialects Fragment NLP Systems and Threaten Language Survival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Dialect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Richness: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The Igbo language features over twenty documented speech varieties (including Owerri, Awgu, Ngwa, Umuahia, Nnewi, Onitsha, Awka, Abiriba, Arochukwu, Nsukka, Mbaise, and others).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Mutual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Unintelligibility: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Speakers from different regions (such as Abiriba and Nnewi) frequently struggle to understand each other in natural conversation due to diverging vocabulary.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err="1" smtClean="0">
                <a:solidFill>
                  <a:srgbClr val="2B3033"/>
                </a:solidFill>
                <a:latin typeface="Arial"/>
              </a:rPr>
              <a:t>Standardisation</a:t>
            </a:r>
            <a:r>
              <a:rPr sz="1600" b="1" dirty="0" smtClean="0">
                <a:solidFill>
                  <a:srgbClr val="2B3033"/>
                </a:solidFill>
                <a:latin typeface="Arial"/>
              </a:rPr>
              <a:t>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Failure: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Establishing a standardised orthography has been a long-standing struggle, leading to compromises like the </a:t>
            </a:r>
            <a:r>
              <a:rPr sz="1600" b="0" dirty="0" err="1">
                <a:solidFill>
                  <a:srgbClr val="2B3033"/>
                </a:solidFill>
                <a:latin typeface="Arial"/>
              </a:rPr>
              <a:t>Onwu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 orthography of 1962, which hides dialect-level richness.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Active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Erosion: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As rapid urbanisation draws younger generations to cities, a flattened Standard Igbo or English takes over, and regional dialects face the threat of disappearing within a generation.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512064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1800" b="1">
                <a:solidFill>
                  <a:srgbClr val="D65631"/>
                </a:solidFill>
                <a:latin typeface="Georgia"/>
              </a:defRPr>
            </a:pPr>
            <a:r>
              <a:t>THE DIALECT GRANULARITY GAP</a:t>
            </a:r>
          </a:p>
        </p:txBody>
      </p:sp>
      <p:sp>
        <p:nvSpPr>
          <p:cNvPr id="6" name="Oval 5"/>
          <p:cNvSpPr/>
          <p:nvPr/>
        </p:nvSpPr>
        <p:spPr>
          <a:xfrm>
            <a:off x="6949440" y="2560320"/>
            <a:ext cx="1645920" cy="1645920"/>
          </a:xfrm>
          <a:prstGeom prst="ellipse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Abiriba</a:t>
            </a:r>
            <a:br/>
            <a:r>
              <a:t>Dialect</a:t>
            </a:r>
          </a:p>
        </p:txBody>
      </p:sp>
      <p:sp>
        <p:nvSpPr>
          <p:cNvPr id="7" name="Oval 6"/>
          <p:cNvSpPr/>
          <p:nvPr/>
        </p:nvSpPr>
        <p:spPr>
          <a:xfrm>
            <a:off x="9692640" y="2560320"/>
            <a:ext cx="1645920" cy="1645920"/>
          </a:xfrm>
          <a:prstGeom prst="ellipse">
            <a:avLst/>
          </a:prstGeom>
          <a:solidFill>
            <a:srgbClr val="2B3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Nnewi</a:t>
            </a:r>
            <a:br/>
            <a:r>
              <a:t>Dialect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10896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D65631"/>
                </a:solidFill>
                <a:latin typeface="Georgia"/>
              </a:defRPr>
            </a:pPr>
            <a:r>
              <a:t>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3891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737D84"/>
                </a:solidFill>
                <a:latin typeface="Arial"/>
              </a:defRPr>
            </a:pPr>
            <a:r>
              <a:t>Tonal and lexical variations complicate standard AI models. Standardised orthography completely hides these differences, causing NLP downstream failures (especially in TTS).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Small Volunteer Cohorts Limit Traditional Datasets to Less Than 50 Hours per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37D84"/>
                </a:solidFill>
                <a:latin typeface="Arial"/>
              </a:defRPr>
            </a:pPr>
            <a:r>
              <a:t>While previous initiatives have done valuable work, they face massive bottlenecks that prevent them from scaling.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329184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Initiative</a:t>
                      </a:r>
                    </a:p>
                  </a:txBody>
                  <a:tcPr marL="127000" marR="127000" marT="101600" marB="101600">
                    <a:solidFill>
                      <a:srgbClr val="2B3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Methodology / Sourcing</a:t>
                      </a:r>
                    </a:p>
                  </a:txBody>
                  <a:tcPr marL="127000" marR="127000" marT="101600" marB="101600">
                    <a:solidFill>
                      <a:srgbClr val="2B3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Key Limitations</a:t>
                      </a:r>
                    </a:p>
                  </a:txBody>
                  <a:tcPr marL="127000" marR="127000" marT="101600" marB="101600">
                    <a:solidFill>
                      <a:srgbClr val="2B3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Lexara Competitive Edge</a:t>
                      </a:r>
                    </a:p>
                  </a:txBody>
                  <a:tcPr marL="127000" marR="127000" marT="101600" marB="101600">
                    <a:solidFill>
                      <a:srgbClr val="2B303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Mozilla Common Voice</a:t>
                      </a:r>
                    </a:p>
                  </a:txBody>
                  <a:tcPr marL="127000" marR="127000" marT="101600" marB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Crowdsourced voice recordings from read, scripted prompts.</a:t>
                      </a:r>
                    </a:p>
                  </a:txBody>
                  <a:tcPr marL="127000" marR="127000" marT="101600" marB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Primarily read, scripted speech; misses spontaneous conversational nuances.</a:t>
                      </a:r>
                    </a:p>
                  </a:txBody>
                  <a:tcPr marL="127000" marR="127000" marT="101600" marB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5631"/>
                          </a:solidFill>
                          <a:latin typeface="Arial"/>
                        </a:rPr>
                        <a:t>Spontaneous, everyday speech based on rich visual stimuli.</a:t>
                      </a:r>
                    </a:p>
                  </a:txBody>
                  <a:tcPr marL="127000" marR="127000" marT="101600" marB="10160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Masakhane Project</a:t>
                      </a:r>
                    </a:p>
                  </a:txBody>
                  <a:tcPr marL="127000" marR="127000" marT="101600" marB="101600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Participatory machine translation via distributed community.</a:t>
                      </a:r>
                    </a:p>
                  </a:txBody>
                  <a:tcPr marL="127000" marR="127000" marT="101600" marB="101600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Continental scope lacks dialect depth; misses critical metadata (sizes, licensing).</a:t>
                      </a:r>
                    </a:p>
                  </a:txBody>
                  <a:tcPr marL="127000" marR="127000" marT="101600" marB="101600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5631"/>
                          </a:solidFill>
                          <a:latin typeface="Arial"/>
                        </a:rPr>
                        <a:t>Dialect-granular comparative speech with comprehensive metadata.</a:t>
                      </a:r>
                    </a:p>
                  </a:txBody>
                  <a:tcPr marL="127000" marR="127000" marT="101600" marB="101600">
                    <a:solidFill>
                      <a:srgbClr val="F5F2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Meta Speech Initiative</a:t>
                      </a:r>
                    </a:p>
                  </a:txBody>
                  <a:tcPr marL="127000" marR="127000" marT="101600" marB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Crawl-based scaling for hundreds of underserved languages.</a:t>
                      </a:r>
                    </a:p>
                  </a:txBody>
                  <a:tcPr marL="127000" marR="127000" marT="101600" marB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Extremely low data volume (less than 50 hours, some under 10 hours) per language.</a:t>
                      </a:r>
                    </a:p>
                  </a:txBody>
                  <a:tcPr marL="127000" marR="127000" marT="101600" marB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5631"/>
                          </a:solidFill>
                          <a:latin typeface="Arial"/>
                        </a:rPr>
                        <a:t>High-volume, self-reinforcing, and rapidly compounded datasets.</a:t>
                      </a:r>
                    </a:p>
                  </a:txBody>
                  <a:tcPr marL="127000" marR="127000" marT="101600" marB="10160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Traditional Fieldwork</a:t>
                      </a:r>
                    </a:p>
                  </a:txBody>
                  <a:tcPr marL="127000" marR="127000" marT="101600" marB="101600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Manual, offline linguistic studies and recordings in rural settings.</a:t>
                      </a:r>
                    </a:p>
                  </a:txBody>
                  <a:tcPr marL="127000" marR="127000" marT="101600" marB="101600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033"/>
                          </a:solidFill>
                          <a:latin typeface="Arial"/>
                        </a:rPr>
                        <a:t>Takes years to compile small corpora; relies heavily on unpaid volunteer cohorts.</a:t>
                      </a:r>
                    </a:p>
                  </a:txBody>
                  <a:tcPr marL="127000" marR="127000" marT="101600" marB="101600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5631"/>
                          </a:solidFill>
                          <a:latin typeface="Arial"/>
                        </a:rPr>
                        <a:t>Rapid crowdsourced validation via game sessions built in minutes.</a:t>
                      </a:r>
                    </a:p>
                  </a:txBody>
                  <a:tcPr marL="127000" marR="127000" marT="101600" marB="101600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Lexara Turns Everyday Speakers Into Active Contributors Through Gamified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B3033"/>
                </a:solidFill>
                <a:latin typeface="Arial"/>
              </a:defRPr>
            </a:pPr>
            <a:r>
              <a:t>Lexara is a gamified mobile app that turns complex linguistic data collection into an engaging, everyday game. By crowdsourcing rich spontaneous speech, we solve the low-resource bottleneck.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237744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D65631"/>
                </a:solidFill>
                <a:latin typeface="Georgia"/>
              </a:defRPr>
            </a:pPr>
            <a:r>
              <a:t>1. VISUAL STIMULUS</a:t>
            </a:r>
          </a:p>
          <a:p>
            <a:pPr algn="l">
              <a:defRPr sz="1300">
                <a:solidFill>
                  <a:srgbClr val="2B3033"/>
                </a:solidFill>
                <a:latin typeface="Arial"/>
              </a:defRPr>
            </a:pPr>
            <a:r>
              <a:t>Instead of reading text, players are shown short video clips, real-world events, or common gestures. This captures everyday vocabulary (e.g. grinding pepper, cooking).</a:t>
            </a:r>
          </a:p>
        </p:txBody>
      </p:sp>
      <p:sp>
        <p:nvSpPr>
          <p:cNvPr id="6" name="Chevron 5"/>
          <p:cNvSpPr/>
          <p:nvPr/>
        </p:nvSpPr>
        <p:spPr>
          <a:xfrm>
            <a:off x="3992727" y="3749040"/>
            <a:ext cx="457200" cy="548640"/>
          </a:xfrm>
          <a:prstGeom prst="chevron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49927" y="237744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D65631"/>
                </a:solidFill>
                <a:latin typeface="Georgia"/>
              </a:defRPr>
            </a:pPr>
            <a:r>
              <a:t>2. SPONTANEOUS RECORDING</a:t>
            </a:r>
          </a:p>
          <a:p>
            <a:pPr algn="l">
              <a:defRPr sz="1300">
                <a:solidFill>
                  <a:srgbClr val="2B3033"/>
                </a:solidFill>
                <a:latin typeface="Arial"/>
              </a:defRPr>
            </a:pPr>
            <a:r>
              <a:t>The player records a spoken voice description of what they see on screen using their exact regional dialect—capturing raw, authentic speech.</a:t>
            </a:r>
          </a:p>
        </p:txBody>
      </p:sp>
      <p:sp>
        <p:nvSpPr>
          <p:cNvPr id="8" name="Chevron 7"/>
          <p:cNvSpPr/>
          <p:nvPr/>
        </p:nvSpPr>
        <p:spPr>
          <a:xfrm>
            <a:off x="7741767" y="3749040"/>
            <a:ext cx="457200" cy="548640"/>
          </a:xfrm>
          <a:prstGeom prst="chevron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98967" y="237744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D65631"/>
                </a:solidFill>
                <a:latin typeface="Georgia"/>
              </a:defRPr>
            </a:pPr>
            <a:r>
              <a:t>3. PIPELINE VALIDATION</a:t>
            </a:r>
          </a:p>
          <a:p>
            <a:pPr algn="l">
              <a:defRPr sz="1300">
                <a:solidFill>
                  <a:srgbClr val="2B3033"/>
                </a:solidFill>
                <a:latin typeface="Arial"/>
              </a:defRPr>
            </a:pPr>
            <a:r>
              <a:t>Submissions undergo real-time validation via our structural, semantic, and consensus algorithms, unlocking points and instant financial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Two Structured Play Modes Validate Comparative Dialect Datasets in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l">
              <a:spcAft>
                <a:spcPts val="1600"/>
              </a:spcAft>
              <a:defRPr sz="2200" b="1">
                <a:solidFill>
                  <a:srgbClr val="D65631"/>
                </a:solidFill>
                <a:latin typeface="Georgia"/>
              </a:defRPr>
            </a:pPr>
            <a:r>
              <a:t>SOLO MODE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Focused Gameplay: </a:t>
            </a:r>
            <a:r>
              <a:rPr sz="1300" b="0">
                <a:solidFill>
                  <a:srgbClr val="2B3033"/>
                </a:solidFill>
                <a:latin typeface="Arial"/>
              </a:rPr>
              <a:t>Players select their language and specific dialect, then describe a dynamic screen stimulus in real time.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Acoustic Variety: </a:t>
            </a:r>
            <a:r>
              <a:rPr sz="1300" b="0">
                <a:solidFill>
                  <a:srgbClr val="2B3033"/>
                </a:solidFill>
                <a:latin typeface="Arial"/>
              </a:rPr>
              <a:t>Stimuli are chosen deliberately (e.g., cups, walking, traditional activities) to extract wide descriptive vocabularies.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AI Verification: </a:t>
            </a:r>
            <a:r>
              <a:rPr sz="1300" b="0">
                <a:solidFill>
                  <a:srgbClr val="2B3033"/>
                </a:solidFill>
                <a:latin typeface="Arial"/>
              </a:rPr>
              <a:t>A background pipeline combining automated speech recognition and visual-semantic AI scores the description instantly.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30975" y="164592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l">
              <a:spcAft>
                <a:spcPts val="1600"/>
              </a:spcAft>
              <a:defRPr sz="2200" b="1">
                <a:solidFill>
                  <a:srgbClr val="2E7559"/>
                </a:solidFill>
                <a:latin typeface="Georgia"/>
              </a:defRPr>
            </a:pPr>
            <a:r>
              <a:t>MULTIPLAYER MODE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2 to 10 Players: </a:t>
            </a:r>
            <a:r>
              <a:rPr sz="1300" b="0">
                <a:solidFill>
                  <a:srgbClr val="2B3033"/>
                </a:solidFill>
                <a:latin typeface="Arial"/>
              </a:rPr>
              <a:t>Real-time interactive group sessions where users participate from different parts of the country.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Roles &amp; Collaboration: </a:t>
            </a:r>
            <a:r>
              <a:rPr sz="1300" b="0">
                <a:solidFill>
                  <a:srgbClr val="2B3033"/>
                </a:solidFill>
                <a:latin typeface="Arial"/>
              </a:rPr>
              <a:t>One player acts as the 'selector' of the visual stimulus, while other players independently describe what they see.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Peer Validation: </a:t>
            </a:r>
            <a:r>
              <a:rPr sz="1300" b="0">
                <a:solidFill>
                  <a:srgbClr val="2B3033"/>
                </a:solidFill>
                <a:latin typeface="Arial"/>
              </a:rPr>
              <a:t>The group reviews, peer-votes on correctness, flags regional slang differences, and collaboratively approves descriptions.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E7559"/>
                </a:solidFill>
                <a:latin typeface="Arial"/>
              </a:rPr>
              <a:t>•  Fieldwork in Minutes: </a:t>
            </a:r>
            <a:r>
              <a:rPr sz="1300" b="0">
                <a:solidFill>
                  <a:srgbClr val="2B3033"/>
                </a:solidFill>
                <a:latin typeface="Arial"/>
              </a:rPr>
              <a:t>Yields highly validated, cross-verified comparative dialect data in minutes—historically requiring years of fieldwork.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Three-Layer Pipeline Validates Speech Data Without Prior Ground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37D84"/>
                </a:solidFill>
                <a:latin typeface="Arial"/>
              </a:defRPr>
            </a:pPr>
            <a:r>
              <a:t>How does Lexara prove a description is accurate when no digital 'ground truth' or dictionary exists?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" y="201168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2B3033"/>
                </a:solidFill>
                <a:latin typeface="Georgia"/>
              </a:defRPr>
            </a:pPr>
            <a:r>
              <a:t>LAYER 1: STRUCTURAL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B3033"/>
                </a:solidFill>
                <a:latin typeface="Arial"/>
              </a:rPr>
              <a:t>•  ASR check: </a:t>
            </a:r>
            <a:r>
              <a:rPr sz="1100" b="0">
                <a:solidFill>
                  <a:srgbClr val="2B3033"/>
                </a:solidFill>
                <a:latin typeface="Arial"/>
              </a:rPr>
              <a:t>Groq's Whisper architecture detects whether genuine speech is produced.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B3033"/>
                </a:solidFill>
                <a:latin typeface="Arial"/>
              </a:rPr>
              <a:t>•  Duration: </a:t>
            </a:r>
            <a:r>
              <a:rPr sz="1100" b="0">
                <a:solidFill>
                  <a:srgbClr val="2B3033"/>
                </a:solidFill>
                <a:latin typeface="Arial"/>
              </a:rPr>
              <a:t>Ensures the description is substantial (meets minimum vocal duration limits).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B3033"/>
                </a:solidFill>
                <a:latin typeface="Arial"/>
              </a:rPr>
              <a:t>•  Language Match: </a:t>
            </a:r>
            <a:r>
              <a:rPr sz="1100" b="0">
                <a:solidFill>
                  <a:srgbClr val="2B3033"/>
                </a:solidFill>
                <a:latin typeface="Arial"/>
              </a:rPr>
              <a:t>Acoustic checks to ensure the sound matches the user's selected language/dialect.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201168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2B3033"/>
                </a:solidFill>
                <a:latin typeface="Georgia"/>
              </a:defRPr>
            </a:pPr>
            <a:r>
              <a:t>LAYER 2: SEMANTIC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B3033"/>
                </a:solidFill>
                <a:latin typeface="Arial"/>
              </a:rPr>
              <a:t>•  Visual-Semantic: </a:t>
            </a:r>
            <a:r>
              <a:rPr sz="1100" b="0">
                <a:solidFill>
                  <a:srgbClr val="2B3033"/>
                </a:solidFill>
                <a:latin typeface="Arial"/>
              </a:rPr>
              <a:t>A multimodal AI model compares the generated text with the visual image stimulus.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B3033"/>
                </a:solidFill>
                <a:latin typeface="Arial"/>
              </a:rPr>
              <a:t>•  Effort &amp; Quality: </a:t>
            </a:r>
            <a:r>
              <a:rPr sz="1100" b="0">
                <a:solidFill>
                  <a:srgbClr val="2B3033"/>
                </a:solidFill>
                <a:latin typeface="Arial"/>
              </a:rPr>
              <a:t>Scores the detail and description effort (avoiding single-word filler words).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B3033"/>
                </a:solidFill>
                <a:latin typeface="Arial"/>
              </a:rPr>
              <a:t>•  Consistency: </a:t>
            </a:r>
            <a:r>
              <a:rPr sz="1100" b="0">
                <a:solidFill>
                  <a:srgbClr val="2B3033"/>
                </a:solidFill>
                <a:latin typeface="Arial"/>
              </a:rPr>
              <a:t>Evaluates linguistic structures for natural-sounding speech variations.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98967" y="2011680"/>
            <a:ext cx="34747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5631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D65631"/>
                </a:solidFill>
                <a:latin typeface="Georgia"/>
              </a:defRPr>
            </a:pPr>
            <a:r>
              <a:t>LAYER 3: CONSENSUS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B3033"/>
                </a:solidFill>
                <a:latin typeface="Arial"/>
              </a:rPr>
              <a:t>•  Independent Agreement: </a:t>
            </a:r>
            <a:r>
              <a:rPr sz="1100" b="0">
                <a:solidFill>
                  <a:srgbClr val="2B3033"/>
                </a:solidFill>
                <a:latin typeface="Arial"/>
              </a:rPr>
              <a:t>When multiple speakers independently describe the same image identically.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B3033"/>
                </a:solidFill>
                <a:latin typeface="Arial"/>
              </a:rPr>
              <a:t>•  Semantic Convergence: </a:t>
            </a:r>
            <a:r>
              <a:rPr sz="1100" b="0">
                <a:solidFill>
                  <a:srgbClr val="2B3033"/>
                </a:solidFill>
                <a:latin typeface="Arial"/>
              </a:rPr>
              <a:t>Syntactic similarities across users create a powerful mathematical proof.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B3033"/>
                </a:solidFill>
                <a:latin typeface="Arial"/>
              </a:rPr>
              <a:t>•  Community Trust: </a:t>
            </a:r>
            <a:r>
              <a:rPr sz="1100" b="0">
                <a:solidFill>
                  <a:srgbClr val="2B3033"/>
                </a:solidFill>
                <a:latin typeface="Arial"/>
              </a:rPr>
              <a:t>Truth is defined collectively through consensus, bypassing the need for prior textbooks.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Local Micro-Rewards Convert Spoken Dialect Data into Real-World Value to Solve Volunteer Fatigue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The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Volunteer Plateau: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Prior African NLP initiatives rely heavily on small cohorts of enthusiastic volunteers or unpaid annotators, which causes rapid volunteer fatigue.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Abstract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AI vs Lived Reality: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For underserved regions, contributing to 'academic research' or 'global AI </a:t>
            </a:r>
            <a:r>
              <a:rPr sz="1600" b="0" dirty="0" err="1">
                <a:solidFill>
                  <a:srgbClr val="2B3033"/>
                </a:solidFill>
                <a:latin typeface="Arial"/>
              </a:rPr>
              <a:t>datasets'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 is too abstract to drive consistent daily engagement.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 smtClean="0">
                <a:solidFill>
                  <a:srgbClr val="2B3033"/>
                </a:solidFill>
                <a:latin typeface="Arial"/>
              </a:rPr>
              <a:t>Economic </a:t>
            </a:r>
            <a:r>
              <a:rPr sz="1600" b="1" dirty="0">
                <a:solidFill>
                  <a:srgbClr val="2B3033"/>
                </a:solidFill>
                <a:latin typeface="Arial"/>
              </a:rPr>
              <a:t>Alignment: </a:t>
            </a:r>
            <a:r>
              <a:rPr sz="1600" b="0" dirty="0">
                <a:solidFill>
                  <a:srgbClr val="2B3033"/>
                </a:solidFill>
                <a:latin typeface="Arial"/>
              </a:rPr>
              <a:t>To build sustainable, high-volume data pipelines, we must align participation directly with the local micro-economies of our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51206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5631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2000"/>
              </a:spcAft>
              <a:defRPr sz="2000" b="1">
                <a:solidFill>
                  <a:srgbClr val="D65631"/>
                </a:solidFill>
                <a:latin typeface="Georgia"/>
              </a:defRPr>
            </a:pPr>
            <a:r>
              <a:t>THE REWARD ENGINE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Progressive Gamification: </a:t>
            </a:r>
            <a:r>
              <a:rPr sz="1300" b="0">
                <a:solidFill>
                  <a:srgbClr val="2B3033"/>
                </a:solidFill>
                <a:latin typeface="Arial"/>
              </a:rPr>
              <a:t>Points represent progress, unlocking advanced, culturally rich image sets as players level up.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Immediate Liquidation: </a:t>
            </a:r>
            <a:r>
              <a:rPr sz="1300" b="0">
                <a:solidFill>
                  <a:srgbClr val="2B3033"/>
                </a:solidFill>
                <a:latin typeface="Arial"/>
              </a:rPr>
              <a:t>In-game points convert directly into tangible real-world rewards: Airtime, Mobile Data, or Cash equivalents.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D65631"/>
                </a:solidFill>
                <a:latin typeface="Arial"/>
              </a:rPr>
              <a:t>•  Sustained Participation: </a:t>
            </a:r>
            <a:r>
              <a:rPr sz="1300" b="0">
                <a:solidFill>
                  <a:srgbClr val="2B3033"/>
                </a:solidFill>
                <a:latin typeface="Arial"/>
              </a:rPr>
              <a:t>Compensating users for speaking their native language turns crowdsourcing into a reliable local micro-economy, scaling past previous projects.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Four High-Impact Sectors Require Dialect-Aware Translation Gaps to be Closed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l">
              <a:spcAft>
                <a:spcPts val="400"/>
              </a:spcAft>
              <a:defRPr sz="1500" b="1">
                <a:solidFill>
                  <a:srgbClr val="D65631"/>
                </a:solidFill>
                <a:latin typeface="Georgia"/>
              </a:defRPr>
            </a:pPr>
            <a:r>
              <a:t>HEALTHCARE</a:t>
            </a:r>
          </a:p>
          <a:p>
            <a:pPr>
              <a:spcAft>
                <a:spcPts val="600"/>
              </a:spcAft>
              <a:defRPr sz="1200" b="1">
                <a:solidFill>
                  <a:srgbClr val="2B3033"/>
                </a:solidFill>
                <a:latin typeface="Arial"/>
              </a:defRPr>
            </a:pPr>
            <a:r>
              <a:t>Bridging Doctor-Patient Gaps</a:t>
            </a:r>
          </a:p>
          <a:p>
            <a:pPr>
              <a:defRPr sz="1100">
                <a:solidFill>
                  <a:srgbClr val="737D84"/>
                </a:solidFill>
                <a:latin typeface="Arial"/>
              </a:defRPr>
            </a:pPr>
            <a:r>
              <a:t>Enables real-time translation so a clinician speaking Standard Igbo or English can communicate perfectly with a patient from a rural community speaking an Abiriba or Ngwa dialect.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l">
              <a:spcAft>
                <a:spcPts val="400"/>
              </a:spcAft>
              <a:defRPr sz="1500" b="1">
                <a:solidFill>
                  <a:srgbClr val="2B3033"/>
                </a:solidFill>
                <a:latin typeface="Georgia"/>
              </a:defRPr>
            </a:pPr>
            <a:r>
              <a:t>FINANCIAL SERVICES</a:t>
            </a:r>
          </a:p>
          <a:p>
            <a:pPr>
              <a:spcAft>
                <a:spcPts val="600"/>
              </a:spcAft>
              <a:defRPr sz="1200" b="1">
                <a:solidFill>
                  <a:srgbClr val="2B3033"/>
                </a:solidFill>
                <a:latin typeface="Arial"/>
              </a:defRPr>
            </a:pPr>
            <a:r>
              <a:t>Voice-Based Mobile Banking</a:t>
            </a:r>
          </a:p>
          <a:p>
            <a:pPr>
              <a:defRPr sz="1100">
                <a:solidFill>
                  <a:srgbClr val="737D84"/>
                </a:solidFill>
                <a:latin typeface="Arial"/>
              </a:defRPr>
            </a:pPr>
            <a:r>
              <a:t>Powers secure, voice-driven interactive banking systems. Unlocks financial access for rural populations fluent only in local regional dialects.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l">
              <a:spcAft>
                <a:spcPts val="400"/>
              </a:spcAft>
              <a:defRPr sz="1500" b="1">
                <a:solidFill>
                  <a:srgbClr val="2E7559"/>
                </a:solidFill>
                <a:latin typeface="Georgia"/>
              </a:defRPr>
            </a:pPr>
            <a:r>
              <a:t>EDUCATION</a:t>
            </a:r>
          </a:p>
          <a:p>
            <a:pPr>
              <a:spcAft>
                <a:spcPts val="600"/>
              </a:spcAft>
              <a:defRPr sz="1200" b="1">
                <a:solidFill>
                  <a:srgbClr val="2B3033"/>
                </a:solidFill>
                <a:latin typeface="Arial"/>
              </a:defRPr>
            </a:pPr>
            <a:r>
              <a:t>Home-Dialect Instruction</a:t>
            </a:r>
          </a:p>
          <a:p>
            <a:pPr>
              <a:defRPr sz="1100">
                <a:solidFill>
                  <a:srgbClr val="737D84"/>
                </a:solidFill>
                <a:latin typeface="Arial"/>
              </a:defRPr>
            </a:pPr>
            <a:r>
              <a:t>Allows teachers to deliver personalized, dialect-specific instruction to younger children while curriculum materials remain in standardised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l">
              <a:spcAft>
                <a:spcPts val="400"/>
              </a:spcAft>
              <a:defRPr sz="1500" b="1">
                <a:solidFill>
                  <a:srgbClr val="737D84"/>
                </a:solidFill>
                <a:latin typeface="Georgia"/>
              </a:defRPr>
            </a:pPr>
            <a:r>
              <a:t>GOVERNANCE &amp; SAFETY</a:t>
            </a:r>
          </a:p>
          <a:p>
            <a:pPr>
              <a:spcAft>
                <a:spcPts val="600"/>
              </a:spcAft>
              <a:defRPr sz="1200" b="1">
                <a:solidFill>
                  <a:srgbClr val="2B3033"/>
                </a:solidFill>
                <a:latin typeface="Arial"/>
              </a:defRPr>
            </a:pPr>
            <a:r>
              <a:t>Informed Citizenry Outreach</a:t>
            </a:r>
          </a:p>
          <a:p>
            <a:pPr>
              <a:defRPr sz="1100">
                <a:solidFill>
                  <a:srgbClr val="737D84"/>
                </a:solidFill>
                <a:latin typeface="Arial"/>
              </a:defRPr>
            </a:pPr>
            <a:r>
              <a:t>Translates critical public safety notices, health advisories, and legal rights into precise regional dialects, ensuring true comprehension.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Two-Phase Translation Engine Builds the Foundation for Real-Time Bridging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37D84"/>
                </a:solidFill>
                <a:latin typeface="Arial"/>
              </a:defRPr>
            </a:pPr>
            <a:r>
              <a:t>Our strategic timeline moves Lexara from high-volume data collection to real-time translation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3035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l">
              <a:spcAft>
                <a:spcPts val="1600"/>
              </a:spcAft>
              <a:defRPr sz="2000" b="1">
                <a:solidFill>
                  <a:srgbClr val="D65631"/>
                </a:solidFill>
                <a:latin typeface="Georgia"/>
              </a:defRPr>
            </a:pPr>
            <a:r>
              <a:t>PHASE 1: THE FOUNDATION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Data Compilation: </a:t>
            </a:r>
            <a:r>
              <a:rPr sz="1300" b="0">
                <a:solidFill>
                  <a:srgbClr val="2B3033"/>
                </a:solidFill>
                <a:latin typeface="Arial"/>
              </a:rPr>
              <a:t>Build the largest and most granular dialect-level spontaneous speech corpus in Sub-Saharan Africa.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Research Pipeline: </a:t>
            </a:r>
            <a:r>
              <a:rPr sz="1300" b="0">
                <a:solidFill>
                  <a:srgbClr val="2B3033"/>
                </a:solidFill>
                <a:latin typeface="Arial"/>
              </a:rPr>
              <a:t>Package, structure, and license unlabelled datasets for global NLP researchers and developers.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Model Bootstrapping: </a:t>
            </a:r>
            <a:r>
              <a:rPr sz="1300" b="0">
                <a:solidFill>
                  <a:srgbClr val="2B3033"/>
                </a:solidFill>
                <a:latin typeface="Arial"/>
              </a:rPr>
              <a:t>Feed our custom validation algorithms with verified acoustic and semantic community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0975" y="2011680"/>
            <a:ext cx="530352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5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l">
              <a:spcAft>
                <a:spcPts val="1600"/>
              </a:spcAft>
              <a:defRPr sz="2000" b="1">
                <a:solidFill>
                  <a:srgbClr val="2E7559"/>
                </a:solidFill>
                <a:latin typeface="Georgia"/>
              </a:defRPr>
            </a:pPr>
            <a:r>
              <a:t>PHASE 2: TRANSLATION INFRASTRUCTURE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Inter-Dialect Bridge: </a:t>
            </a:r>
            <a:r>
              <a:rPr sz="1300" b="0">
                <a:solidFill>
                  <a:srgbClr val="2B3033"/>
                </a:solidFill>
                <a:latin typeface="Arial"/>
              </a:rPr>
              <a:t>Deploy translation engines allowing a speaker of Abiriba dialect to hold natural conversations with a speaker of Nnewi dialect.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B3033"/>
                </a:solidFill>
                <a:latin typeface="Arial"/>
              </a:rPr>
              <a:t>•  Cross-Language Scaling: </a:t>
            </a:r>
            <a:r>
              <a:rPr sz="1300" b="0">
                <a:solidFill>
                  <a:srgbClr val="2B3033"/>
                </a:solidFill>
                <a:latin typeface="Arial"/>
              </a:rPr>
              <a:t>Scale our verified architecture to major African language pairs (e.g. Igbo-Yoruba, Hausa-Igbo, Efik-Yoruba).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E7559"/>
                </a:solidFill>
                <a:latin typeface="Arial"/>
              </a:rPr>
              <a:t>•  Seamless Middleware: </a:t>
            </a:r>
            <a:r>
              <a:rPr sz="1300" b="0">
                <a:solidFill>
                  <a:srgbClr val="2B3033"/>
                </a:solidFill>
                <a:latin typeface="Arial"/>
              </a:rPr>
              <a:t>Serve real-time speech translation APIs for commercial apps, government portals, and smart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2B3033"/>
                </a:solidFill>
                <a:latin typeface="Georgia"/>
              </a:defRPr>
            </a:pPr>
            <a:r>
              <a:t>Lexara Establishes First Defensible Language Data Infrastructure for 2,000+ Dialects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5400"/>
          </a:xfrm>
          <a:prstGeom prst="rect">
            <a:avLst/>
          </a:prstGeom>
          <a:solidFill>
            <a:srgbClr val="D65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8007" y="1828800"/>
            <a:ext cx="34747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D65631"/>
                </a:solidFill>
                <a:latin typeface="Georgia"/>
              </a:defRPr>
            </a:pPr>
            <a:r>
              <a:t>UNRIVALLED DATA QUALITY</a:t>
            </a:r>
          </a:p>
          <a:p>
            <a:pPr algn="ctr">
              <a:spcAft>
                <a:spcPts val="1600"/>
              </a:spcAft>
              <a:defRPr sz="1200" b="1">
                <a:solidFill>
                  <a:srgbClr val="2B3033"/>
                </a:solidFill>
                <a:latin typeface="Arial"/>
              </a:defRPr>
            </a:pPr>
            <a:r>
              <a:t>Dialect-Granular Spontaneous Speech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65631"/>
                </a:solidFill>
                <a:latin typeface="Arial"/>
              </a:rPr>
              <a:t>•  The First Platform: </a:t>
            </a:r>
            <a:r>
              <a:rPr sz="1200" b="0">
                <a:solidFill>
                  <a:srgbClr val="2B3033"/>
                </a:solidFill>
                <a:latin typeface="Arial"/>
              </a:rPr>
              <a:t>The only tech platform capturing natural spontaneous speech rather than rigid, scripted prompts.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65631"/>
                </a:solidFill>
                <a:latin typeface="Arial"/>
              </a:rPr>
              <a:t>•  Preserves Nuances: </a:t>
            </a:r>
            <a:r>
              <a:rPr sz="1200" b="0">
                <a:solidFill>
                  <a:srgbClr val="2B3033"/>
                </a:solidFill>
                <a:latin typeface="Arial"/>
              </a:rPr>
              <a:t>Preserves accents, tone marking, code-switching, and regional vocabulary variations.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8487" y="1828800"/>
            <a:ext cx="34747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2B3033"/>
                </a:solidFill>
                <a:latin typeface="Georgia"/>
              </a:defRPr>
            </a:pPr>
            <a:r>
              <a:t>PROPRIETARY IP ENGINE</a:t>
            </a:r>
          </a:p>
          <a:p>
            <a:pPr algn="ctr">
              <a:spcAft>
                <a:spcPts val="1600"/>
              </a:spcAft>
              <a:defRPr sz="1200" b="1">
                <a:solidFill>
                  <a:srgbClr val="2B3033"/>
                </a:solidFill>
                <a:latin typeface="Arial"/>
              </a:defRPr>
            </a:pPr>
            <a:r>
              <a:t>Real-Time Validation Algorithms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B3033"/>
                </a:solidFill>
                <a:latin typeface="Arial"/>
              </a:rPr>
              <a:t>•  Zero Ground Truth: </a:t>
            </a:r>
            <a:r>
              <a:rPr sz="1200" b="0">
                <a:solidFill>
                  <a:srgbClr val="2B3033"/>
                </a:solidFill>
                <a:latin typeface="Arial"/>
              </a:rPr>
              <a:t>Validates raw speech input in real time without pre-existing textbooks or comparative datasets.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B3033"/>
                </a:solidFill>
                <a:latin typeface="Arial"/>
              </a:rPr>
              <a:t>•  Self-Reinforcing Loop: </a:t>
            </a:r>
            <a:r>
              <a:rPr sz="1200" b="0">
                <a:solidFill>
                  <a:srgbClr val="2B3033"/>
                </a:solidFill>
                <a:latin typeface="Arial"/>
              </a:rPr>
              <a:t>Approved inputs immediately serve as future reference benchmarks, compounding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98967" y="1828800"/>
            <a:ext cx="34747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0D3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2E7559"/>
                </a:solidFill>
                <a:latin typeface="Georgia"/>
              </a:defRPr>
            </a:pPr>
            <a:r>
              <a:t>LOCAL SUSTAINABILITY</a:t>
            </a:r>
          </a:p>
          <a:p>
            <a:pPr algn="ctr">
              <a:spcAft>
                <a:spcPts val="1600"/>
              </a:spcAft>
              <a:defRPr sz="1200" b="1">
                <a:solidFill>
                  <a:srgbClr val="2B3033"/>
                </a:solidFill>
                <a:latin typeface="Arial"/>
              </a:defRPr>
            </a:pPr>
            <a:r>
              <a:t>Incentivised Micro-Economy Loop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7559"/>
                </a:solidFill>
                <a:latin typeface="Arial"/>
              </a:rPr>
              <a:t>•  Solves Fatigue: </a:t>
            </a:r>
            <a:r>
              <a:rPr sz="1200" b="0">
                <a:solidFill>
                  <a:srgbClr val="2B3033"/>
                </a:solidFill>
                <a:latin typeface="Arial"/>
              </a:rPr>
              <a:t>Maintains long-term engagement via direct points-to-mobile data and cash equivalents.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7559"/>
                </a:solidFill>
                <a:latin typeface="Arial"/>
              </a:rPr>
              <a:t>•  Independently Funded: </a:t>
            </a:r>
            <a:r>
              <a:rPr sz="1200" b="0">
                <a:solidFill>
                  <a:srgbClr val="2B3033"/>
                </a:solidFill>
                <a:latin typeface="Arial"/>
              </a:rPr>
              <a:t>Free from foreign grant dependence, volunteer exhaustion, or academic cycles.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1534</Words>
  <Application>Microsoft Office PowerPoint</Application>
  <PresentationFormat>Widescreen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Chidiebere</dc:creator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2026-08-14T16:16:24Z</dcterms:modified>
  <cp:category/>
</cp:coreProperties>
</file>